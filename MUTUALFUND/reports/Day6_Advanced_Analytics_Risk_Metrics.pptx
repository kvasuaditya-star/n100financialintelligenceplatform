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Calibri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DAY 6: Advanced Portfolio &amp; Investor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C"/>
                </a:solidFill>
                <a:latin typeface="Calibri"/>
              </a:defRPr>
            </a:pPr>
            <a:r>
              <a:t>Risk Modeling, Cohort Segmentation, and Fund Recommender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C"/>
                </a:solidFill>
                <a:latin typeface="Calibri"/>
              </a:defRPr>
            </a:pPr>
            <a:r>
              <a:t>Prepared by: Vasu Aditya K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Day 6 —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✦  Compute Historical Value at Risk (VaR 95%) and Conditional VaR (CVaR)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✦  Analyze Rolling 90-day Sharpe ratio trends for 5 key large-cap funds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✦  Perform investor cohort analysis segmenting users by entry year (2024 vs 2025)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✦  Analyze SIP continuity, retention gaps, and identify at-risk accounts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✦  Implement a risk-appetite based interactive fund recommendation script</a:t>
            </a:r>
          </a:p>
          <a:p>
            <a:pPr>
              <a:spcBef>
                <a:spcPts val="1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✦  Assess sector concentration risk across equity portfolios using HHI scores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Task 1 — Historical VaR &amp; CVaR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400"/>
                </a:solidFill>
                <a:latin typeface="Calibri"/>
              </a:defRPr>
            </a:pPr>
            <a:r>
              <a:t>Daily Return 95% Confidence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Computed daily percentage returns across all 40 schemes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95% Historical VaR: 5th percentile of daily return distribution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Conditional VaR (CVaR): Average loss in the worst 5% tails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Saved results for all 40 funds to  var_cvar_report.csv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800" b="1">
                <a:solidFill>
                  <a:srgbClr val="00C878"/>
                </a:solidFill>
                <a:latin typeface="Calibri"/>
              </a:defRPr>
            </a:pPr>
            <a:r>
              <a:t>Key Findings (Small Cap vs Debt Risk):</a:t>
            </a:r>
          </a:p>
          <a:p>
            <a:pPr>
              <a:spcBef>
                <a:spcPts val="1000"/>
              </a:spcBef>
              <a:defRPr sz="1800" b="0">
                <a:solidFill>
                  <a:srgbClr val="00C878"/>
                </a:solidFill>
                <a:latin typeface="Calibri"/>
              </a:defRPr>
            </a:pPr>
            <a:r>
              <a:t>    • High Risk: ABSL Small Cap (VaR 3.03% | CVaR 4.25%), Axis Small Cap (VaR 2.97% | CVaR 4.22%)</a:t>
            </a:r>
          </a:p>
          <a:p>
            <a:pPr>
              <a:spcBef>
                <a:spcPts val="1000"/>
              </a:spcBef>
              <a:defRPr sz="1800" b="0">
                <a:solidFill>
                  <a:srgbClr val="00C878"/>
                </a:solidFill>
                <a:latin typeface="Calibri"/>
              </a:defRPr>
            </a:pPr>
            <a:r>
              <a:t>    • Low Risk: Gilt &amp; Liquid schemes exhibit Daily VaR below 0.1%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Task 2 — Rolling 90-Day Sharpe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400"/>
                </a:solidFill>
                <a:latin typeface="Calibri"/>
              </a:defRPr>
            </a:pPr>
            <a:r>
              <a:t>Formula: Mean(R_p) / Std(R_p) * sqrt(252)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Evaluated rolling 90-day annualised Sharpe ratio for 5 key funds: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1. SBI Bluechip Fund (Regular)  |  2. HDFC Top 100 Fund (Regular)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3. ICICI Pru Bluechip Fund (Regular)  |  4. Nippon India Large Cap (Regular)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5. Axis Bluechip Fund (Regular)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Saved results as high-resolution chart:  rolling_sharpe_chart.png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800" b="1">
                <a:solidFill>
                  <a:srgbClr val="00C878"/>
                </a:solidFill>
                <a:latin typeface="Calibri"/>
              </a:defRPr>
            </a:pPr>
            <a:r>
              <a:t>Key Insight:</a:t>
            </a:r>
          </a:p>
          <a:p>
            <a:pPr>
              <a:spcBef>
                <a:spcPts val="1000"/>
              </a:spcBef>
              <a:defRPr sz="1800" b="0">
                <a:solidFill>
                  <a:srgbClr val="00C878"/>
                </a:solidFill>
                <a:latin typeface="Calibri"/>
              </a:defRPr>
            </a:pPr>
            <a:r>
              <a:t>    • Sharpe ratios fluctuate significantly over time, reflecting dynamic risk-adjusted returns.</a:t>
            </a:r>
          </a:p>
          <a:p>
            <a:pPr>
              <a:spcBef>
                <a:spcPts val="1000"/>
              </a:spcBef>
              <a:defRPr sz="1800" b="0">
                <a:solidFill>
                  <a:srgbClr val="00C878"/>
                </a:solidFill>
                <a:latin typeface="Calibri"/>
              </a:defRPr>
            </a:pPr>
            <a:r>
              <a:t>    • ICICI Pru Bluechip shows the highest resilience during downward market transitions.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Task 3 — Investor Cohort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400"/>
                </a:solidFill>
                <a:latin typeface="Calibri"/>
              </a:defRPr>
            </a:pPr>
            <a:r>
              <a:t>Grouped by First Transaction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COHORT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2024 COHORT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2025 COHORT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1078992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C8DC"/>
                </a:solidFill>
                <a:latin typeface="Calibri"/>
              </a:defRPr>
            </a:pPr>
            <a:r>
              <a:t>Total Unique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400"/>
                </a:solidFill>
                <a:latin typeface="Calibri"/>
              </a:defRPr>
            </a:pPr>
            <a:r>
              <a:t>4,803 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878"/>
                </a:solidFill>
                <a:latin typeface="Calibri"/>
              </a:defRPr>
            </a:pPr>
            <a:r>
              <a:t>197 investors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C8DC"/>
                </a:solidFill>
                <a:latin typeface="Calibri"/>
              </a:defRPr>
            </a:pPr>
            <a:r>
              <a:t>Average SIP 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400"/>
                </a:solidFill>
                <a:latin typeface="Calibri"/>
              </a:defRPr>
            </a:pPr>
            <a:r>
              <a:t>₹10,996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878"/>
                </a:solidFill>
                <a:latin typeface="Calibri"/>
              </a:defRPr>
            </a:pPr>
            <a:r>
              <a:t>₹13,505 (+22.8%)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C8DC"/>
                </a:solidFill>
                <a:latin typeface="Calibri"/>
              </a:defRPr>
            </a:pPr>
            <a:r>
              <a:t>Total Capital Invested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400"/>
                </a:solidFill>
                <a:latin typeface="Calibri"/>
              </a:defRPr>
            </a:pPr>
            <a:r>
              <a:t>₹2.26 Billion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878"/>
                </a:solidFill>
                <a:latin typeface="Calibri"/>
              </a:defRPr>
            </a:pPr>
            <a:r>
              <a:t>₹18.99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C8DC"/>
                </a:solidFill>
                <a:latin typeface="Calibri"/>
              </a:defRPr>
            </a:pPr>
            <a:r>
              <a:t>Top Fund (by Volume)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400"/>
                </a:solidFill>
                <a:latin typeface="Calibri"/>
              </a:defRPr>
            </a:pPr>
            <a:r>
              <a:t>Axis Small Cap 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878"/>
                </a:solidFill>
                <a:latin typeface="Calibri"/>
              </a:defRPr>
            </a:pPr>
            <a:r>
              <a:t>Axis Midcap 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C8DC"/>
                </a:solidFill>
                <a:latin typeface="Calibri"/>
              </a:defRPr>
            </a:pPr>
            <a:r>
              <a:t>Top Fund (by Count)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400"/>
                </a:solidFill>
                <a:latin typeface="Calibri"/>
              </a:defRPr>
            </a:pPr>
            <a:r>
              <a:t>HDFC Mid-Cap Opp. 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878"/>
                </a:solidFill>
                <a:latin typeface="Calibri"/>
              </a:defRPr>
            </a:pPr>
            <a:r>
              <a:t>SBI Small Cap 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12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78"/>
                </a:solidFill>
                <a:latin typeface="Calibri"/>
              </a:defRPr>
            </a:pPr>
            <a:r>
              <a:t>Output file:  cohort_analysis.csv 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Task 4 — SIP Continuity &amp; Retention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400"/>
                </a:solidFill>
                <a:latin typeface="Calibri"/>
              </a:defRPr>
            </a:pPr>
            <a:r>
              <a:t>Analysis of Investors with 6+ SIP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Targeted long-term investor population: 1,362 investors</a:t>
            </a:r>
          </a:p>
          <a:p>
            <a:pPr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Calculated date gaps between consecutive monthly SIP transactions</a:t>
            </a:r>
          </a:p>
          <a:p>
            <a:pPr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Average Gap: 64.9 days (compared to the standard 30-day expectation)</a:t>
            </a:r>
          </a:p>
          <a:p>
            <a:pPr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  Retention &amp; Churn Risk Findings:</a:t>
            </a:r>
          </a:p>
          <a:p>
            <a:pPr>
              <a:spcBef>
                <a:spcPts val="800"/>
              </a:spcBef>
              <a:defRPr sz="1800" b="0">
                <a:solidFill>
                  <a:srgbClr val="00C878"/>
                </a:solidFill>
                <a:latin typeface="Calibri"/>
              </a:defRPr>
            </a:pPr>
            <a:r>
              <a:t>    • 97.8% of investors (1,332 out of 1,362) have an Average Gap &gt; 35 days</a:t>
            </a:r>
          </a:p>
          <a:p>
            <a:pPr>
              <a:spcBef>
                <a:spcPts val="800"/>
              </a:spcBef>
              <a:defRPr sz="1800" b="0">
                <a:solidFill>
                  <a:srgbClr val="00C878"/>
                </a:solidFill>
                <a:latin typeface="Calibri"/>
              </a:defRPr>
            </a:pPr>
            <a:r>
              <a:t>    • 99.9% of investors (1,361 out of 1,362) had at least one Gap &gt; 35 days</a:t>
            </a:r>
          </a:p>
          <a:p>
            <a:pPr>
              <a:spcBef>
                <a:spcPts val="800"/>
              </a:spcBef>
              <a:defRPr sz="1800" b="1">
                <a:solidFill>
                  <a:srgbClr val="00C878"/>
                </a:solidFill>
                <a:latin typeface="Calibri"/>
              </a:defRPr>
            </a:pPr>
            <a:r>
              <a:t>✔  Strategic Recommendation: Pushing for automated mandates (auto-debit) is critical</a:t>
            </a:r>
          </a:p>
          <a:p>
            <a:pPr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  to reduce manual payment friction and improve systematic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Task 5 — Interactive Fund 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400"/>
                </a:solidFill>
                <a:latin typeface="Calibri"/>
              </a:defRPr>
            </a:pPr>
            <a:r>
              <a:t>Script: recommender.py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RISK APPETITE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TOP 3 RECOMMENDED SCHEMES (BY 3-YR SHARPE)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33272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Low Risk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ICICI Pru Liquid (Sharpe 7.68) | Kotak Liquid (6.18) | ABSL Liquid (5.14)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Moderate Risk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HDFC Top 100 Regular (Sharpe 1.06) | Mirae Asset Large Cap (1.06) | ICICI Pru Bluechip Direct (1.03)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High Risk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Kotak Emerging Equity (Sharpe 0.96) | ICICI Pru Midcap (0.95) | SBI Small Cap Regular (0.94)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✔  CLI Execution:  python recommender.py High  (prints a formatted text table)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✔  Maps Low → Low  |  Moderate → Moderate/Moderately High  |  High → High/Very High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Task 6 — Sector Concentration Risk (HHI)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400"/>
                </a:solidFill>
                <a:latin typeface="Calibri"/>
              </a:defRPr>
            </a:pPr>
            <a:r>
              <a:t>Formula: Sum of Squared Sector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✔  Computed HHI scores across all 34 equity funds with stock holdings:</a:t>
            </a:r>
          </a:p>
          <a:p>
            <a:pPr>
              <a:spcBef>
                <a:spcPts val="600"/>
              </a:spcBef>
              <a:defRPr sz="1700" b="0">
                <a:solidFill>
                  <a:srgbClr val="00C878"/>
                </a:solidFill>
                <a:latin typeface="Calibri"/>
              </a:defRPr>
            </a:pPr>
            <a:r>
              <a:t>    • High HHI (&gt; 2000): Concentrated allocation, high active bets (Axis Bluechip HHI 2400+)</a:t>
            </a:r>
          </a:p>
          <a:p>
            <a:pPr>
              <a:spcBef>
                <a:spcPts val="600"/>
              </a:spcBef>
              <a:defRPr sz="1700" b="0">
                <a:solidFill>
                  <a:srgbClr val="00C878"/>
                </a:solidFill>
                <a:latin typeface="Calibri"/>
              </a:defRPr>
            </a:pPr>
            <a:r>
              <a:t>    • Low HHI (&lt; 1000): Highly diversified portfolio (Nippon Small Cap HHI ~740)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✔  Saved results as comparison chart:  sector_hhi_chart.png  &amp; report:  sector_hhi.csv</a:t>
            </a:r>
          </a:p>
          <a:p>
            <a:pPr>
              <a:spcBef>
                <a:spcPts val="600"/>
              </a:spcBef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00C878"/>
                </a:solidFill>
                <a:latin typeface="Calibri"/>
              </a:defRPr>
            </a:pPr>
            <a:r>
              <a:t>Extreme Portfolios Comparison:</a:t>
            </a:r>
          </a:p>
          <a:p>
            <a:pPr>
              <a:spcBef>
                <a:spcPts val="600"/>
              </a:spcBef>
              <a:defRPr sz="1700" b="0">
                <a:solidFill>
                  <a:srgbClr val="00C878"/>
                </a:solidFill>
                <a:latin typeface="Calibri"/>
              </a:defRPr>
            </a:pPr>
            <a:r>
              <a:t>    • Axis Bluechip Fund: Telecom sector concentration of 48.69% (Highest HHI)</a:t>
            </a:r>
          </a:p>
          <a:p>
            <a:pPr>
              <a:spcBef>
                <a:spcPts val="600"/>
              </a:spcBef>
              <a:defRPr sz="1700" b="0">
                <a:solidFill>
                  <a:srgbClr val="00C878"/>
                </a:solidFill>
                <a:latin typeface="Calibri"/>
              </a:defRPr>
            </a:pPr>
            <a:r>
              <a:t>    • Nippon India Small Cap Fund: Maximum sector exposure of just 25.23% (Lowest HHI)</a:t>
            </a:r>
          </a:p>
          <a:p>
            <a:pPr>
              <a:spcBef>
                <a:spcPts val="600"/>
              </a:spcBef>
              <a:defRPr sz="1700" b="0">
                <a:solidFill>
                  <a:srgbClr val="00C878"/>
                </a:solidFill>
                <a:latin typeface="Calibri"/>
              </a:defRPr>
            </a:pPr>
            <a:r>
              <a:t>    • Spreading assets in Small Cap schemes protects against small-cap stock idiosyncratic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Day 6 — Deliverables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DELIVERABLE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CONTENTS &amp; ANALYTICAL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033272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Advanced_Analytics.ipynb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Executed Jupyter Notebook with code, plots, &amp; 5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var_cvar_report.csv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414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Historical VaR (95%) and CVaR 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cohort_analysis.csv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169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Investor behavior &amp; preferences by cohort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sip_continuity.csv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924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SIP date gaps and at-risk retention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67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sector_hhi.csv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867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Sector Herfindahl-Hirschman Index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rolling_sharpe_chart.png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43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Rolling 90-day Sharpe ratio line plot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sector_hhi_chart.png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188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Equity fund HHI comparison bar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9437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400"/>
                </a:solidFill>
                <a:latin typeface="Calibri"/>
              </a:defRPr>
            </a:pPr>
            <a:r>
              <a:t>recommender.py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294375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Calibri"/>
              </a:defRPr>
            </a:pPr>
            <a:r>
              <a:t>CLI and interactive fund recommendation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4418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78"/>
                </a:solidFill>
                <a:latin typeface="Calibri"/>
              </a:defRPr>
            </a:pPr>
            <a:r>
              <a:t>Pushed to GitHub Main Branch successfully 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Day 6 Complete — Advanced Analytics Suite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C"/>
                </a:solidFill>
                <a:latin typeface="Calibri"/>
              </a:defRPr>
            </a:pPr>
            <a:r>
              <a:t>Mutual Fund Analytics Platform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