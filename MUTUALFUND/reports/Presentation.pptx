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B4D8"/>
                </a:solidFill>
                <a:latin typeface="Calibri"/>
              </a:defRPr>
            </a:pPr>
            <a:r>
              <a:t>BLUESTOCK 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Comprehensive Portfolio Management &amp; Financial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400"/>
                </a:solidFill>
                <a:latin typeface="Calibri"/>
              </a:defRPr>
            </a:pPr>
            <a:r>
              <a:t>Capstone Project - Final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C"/>
                </a:solidFill>
                <a:latin typeface="Calibri"/>
              </a:defRPr>
            </a:pPr>
            <a:r>
              <a:t>Author: Vasu | OS: Windows | Repository: MUTUALFUNDSDATAANALYTICS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Core Business Goals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ETL Data Pipeline (D1/B1): Automated ingestion from live APIs (mfapi.in) and cleaning raw files.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Database Storage (D2): Load normalized tables into a relational SQLite schema for structured analytical querying.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Performance Analytics (D4): Mathematical formulation of CAGR, Sharpe ratio, Sortino, and OLS regression Alpha/Beta.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Advanced Financial Engineering (D6/B3/B4): Value at Risk (VaR), Conditional VaR, Monte Carlo projections, and Markowitz portfolio optimization.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Interactive Web Dashboard (D5/B2): Multi-page Streamlit web app loaded with interactive slicers, graphs, and recommender engines.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Database &amp; ETL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Database Schema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dim_fund (Primary Key: amfi_code) - Scheme name, house, Category, expense ratio, launch date, risk classification.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fact_nav (PK: amfi_code, date) - Daily NAV time-series.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fact_transactions - Investor transactions logs (SIP, Lumpsum, Redemption, state, gender, income, KYC).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fact_performance - Trailing CAGR, Sharpe, Sortino, Alpha, Beta, Volatility, Max Drawdown.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portfolio_holdings - Assets and sectors weights for HHI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400"/>
                </a:solidFill>
                <a:latin typeface="Calibri"/>
              </a:defRPr>
            </a:pPr>
            <a:r>
              <a:t>ETL Pipeline Automation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Live Queries: Queries mfapi.in API and fetches newest NAVs.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Path Resolution: Replaces hardcoded strings with dynamic pathlib Pathing.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Auto Schema: Recreates the SQLite db, builds tables, constraints, indexes, and loads data.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Scheduling (B1): Background weekday daemon configured to execute every day at 8 PM.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NAV Reindexing &amp; Weekend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Correct Holiday/Weekend Management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Problem: Mutual funds do not publish NAVs on weekends and public market holidays, causing time gaps in daily return metrics.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Solution: Reindex the NAV series to a continuous daily date index (calendar range including Saturday and Sunday).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Forward-Fill: Call pandas ffill() to copy the Friday NAV to Saturday and Sunday. This avoids return spikes and matches calendar realities.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CAGR Annualisation: Using calendar days is avoided. The CAGR calculation is annualized using trading days:</a:t>
            </a:r>
          </a:p>
          <a:p>
            <a:pPr>
              <a:spcBef>
                <a:spcPts val="600"/>
              </a:spcBef>
              <a:defRPr sz="1800" b="1">
                <a:solidFill>
                  <a:srgbClr val="FFC400"/>
                </a:solidFill>
                <a:latin typeface="Calibri"/>
              </a:defRPr>
            </a:pPr>
            <a:r>
              <a:t>  CAGR = (Ending NAV / Beginning NAV) ^ (252 / n_trading_days) - 1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  This strictly accounts for the 252 business days in a standard trading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Mutual Fund Performance Scorecarding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Ratios &amp; Risk Metrics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Volatility (Annualised): Vol = Daily_Returns_std * sqrt(252).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Sharpe Ratio: Sharpe = (CAGR_3Yr - Rf) / Vol_Ann. Measures excess returns per unit of volatility (Rf = 6.0%).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Sortino Ratio: Sortino = (CAGR_3Yr - Rf) / Downside_Vol_Ann. Focuses only on negative volatility.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Alpha &amp; Beta: Estimated via OLS linear regression of fund returns against the Nifty benchmark indices.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Maximum Drawdown: Measures historical peak-to-trough drop and tracks recovery 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400"/>
                </a:solidFill>
                <a:latin typeface="Calibri"/>
              </a:defRPr>
            </a:pPr>
            <a:r>
              <a:t>Scorecard Rankings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Best Performers: SBI Bluechip and ICICI Bluechip display robust 3Yr CAGRs with high Sharpe ratios.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Low-Cost Leadership: Direct plans consistently show superior CAGRs due to lower expense ratios (often 0.5% - 1.0% cheaper than regular plans).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Scorecard CSV: Exported to data/processed/fund_scorecard.csv.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Advanced Risk &amp; Portfolio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Value at Risk (VaR) &amp; CVaR (D6)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95% Daily VaR: The 5th percentile of daily returns, indicating the threshold loss that is exceeded only 5% of the time.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Conditional VaR (CVaR): The mean of the returns in the 5% tail, representing expected losses in extreme market scenarios.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Output: High beta small-cap funds show daily VaR losses exceeding 1.8%, while gilt debt funds remain below 0.3%.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400"/>
                </a:solidFill>
                <a:latin typeface="Calibri"/>
              </a:defRPr>
            </a:pPr>
            <a:r>
              <a:t>HHI Concentration (D6)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Herfindahl-Hirschman Index: Sector concentration = sum(Sector_Weight_pct ^ 2).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Score Ranges: Scores over 2,000 signify heavy sector focus. Scores below 1,000 show multi-sector diversification.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Insights: Equity Large Cap funds showcase diversified sector holdings, while thematic schemes are heavily concentrated.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NAV Projections &amp; Portfolio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Monte Carlo Simulation (B3)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Method: Geometric Brownian Motion (GBM) with historical drift (mu) and volatility (sigma) parameters.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Projection: Simulates 1,000 daily paths over a 5-year horizon.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Output: Generates median expected paths along with 90% confidence bands showing path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400"/>
                </a:solidFill>
                <a:latin typeface="Calibri"/>
              </a:defRPr>
            </a:pPr>
            <a:r>
              <a:t>Efficient Frontier (B4)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Markowitz Frontier: Simulates weight combinations for 5 selected large-cap funds.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Objective: Compute annualised expected returns and standard deviations for portfolios.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Maximum Sharpe: Identifies optimal weight allocations (e.g. favoring SBI, ICICI, and Nippon Large Cap for best risk-adjusted performance).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Interactive Streamlit Web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High-End Features &amp; Widgets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Multi-Page Layout: Organized into Executive Scorecard, NAV Visualizer, Sector Concentration, and Financial Engineering tabs.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Slicers (D5/B2): Every page contains at least 2 active input filters (e.g. fund house, category, scheme selector, date range, risk appetite).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Plots: Interactive Plotly line charts, horizontal bars, donuts, and treemaps reacting immediately to filter changes.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Portfolio Tools: Dynamic Monte Carlo projections slider and Markowitz frontier plots based on user-controlled parameters.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Launch Command: run using `streamlit run dashboard/app.py` for local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Investor Behavior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Cohort Analysis (D6)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Segmentation: Segments investors based on their first transaction year (2024 vs 2025 cohorts).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Cohort behavior: Computes count, average SIP amount, total cumulative investments, and top fund house choice.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Summary: 2024 cohort displays higher cumulative volumes, while 2025 cohort demonstrates higher average monthly SIP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400"/>
                </a:solidFill>
                <a:latin typeface="Calibri"/>
              </a:defRPr>
            </a:pPr>
            <a:r>
              <a:t>SIP Continuity &amp; Churn (D6)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Criteria: Filters investors with 6 or more consecutive SIP cycles.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Missed Payment Flag: Measures transaction date gaps. If the maximum gap between payments exceeds 35 days, the account is flagged as 'At Risk'.</a:t>
            </a:r>
          </a:p>
          <a:p>
            <a:pPr>
              <a:spcBef>
                <a:spcPts val="600"/>
              </a:spcBef>
              <a:defRPr sz="1600" b="0">
                <a:solidFill>
                  <a:srgbClr val="C8C8DC"/>
                </a:solidFill>
                <a:latin typeface="Calibri"/>
              </a:defRPr>
            </a:pPr>
            <a:r>
              <a:t>• Output: Generates data/processed/sip_continuity.csv containing target accounts for churn-prevention emails.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Deliverables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DELIVERABLE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VERIFIED STATUS /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033272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400"/>
                </a:solidFill>
                <a:latin typeface="Calibri"/>
              </a:defRPr>
            </a:pPr>
            <a:r>
              <a:t>scripts/etl_pipeline.py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65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Fetches NAV, cleans holidays, loads SQLite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400"/>
                </a:solidFill>
                <a:latin typeface="Calibri"/>
              </a:defRPr>
            </a:pPr>
            <a:r>
              <a:t>data/db/bluestock_mf.db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414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Ignored from git (*.db in .gitignore)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69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400"/>
                </a:solidFill>
                <a:latin typeface="Calibri"/>
              </a:defRPr>
            </a:pPr>
            <a:r>
              <a:t>sql/schema.sql &amp; queries.sql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169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SQLite database DDL schema and 10 analytical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400"/>
                </a:solidFill>
                <a:latin typeface="Calibri"/>
              </a:defRPr>
            </a:pPr>
            <a:r>
              <a:t>notebooks/ (01 to 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3924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Five clean, structured Jupyter notebooks covering ingestion, cleaning, EDA, performance, and advanced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67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400"/>
                </a:solidFill>
                <a:latin typeface="Calibri"/>
              </a:defRPr>
            </a:pPr>
            <a:r>
              <a:t>dashboard/app.py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8679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Streamlit application containing Scorecard, NAV/Benchmark comparison, HHI charts, Monte Carlo, and Frontier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400"/>
                </a:solidFill>
                <a:latin typeface="Calibri"/>
              </a:defRPr>
            </a:pPr>
            <a:r>
              <a:t>scripts/email_report.py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343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Automated weekly HTML performance report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400"/>
                </a:solidFill>
                <a:latin typeface="Calibri"/>
              </a:defRPr>
            </a:pPr>
            <a:r>
              <a:t>reports/Final_Report.pdf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188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C"/>
                </a:solidFill>
                <a:latin typeface="Calibri"/>
              </a:defRPr>
            </a:pPr>
            <a:r>
              <a:t>Detailed analytical summary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68695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78"/>
                </a:solidFill>
                <a:latin typeface="Calibri"/>
              </a:defRPr>
            </a:pPr>
            <a:r>
              <a:t>Project fully completed and deployed to GitHub!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Mutual Fund Capstone Platform Completed Successfully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DC"/>
                </a:solidFill>
                <a:latin typeface="Calibri"/>
              </a:defRPr>
            </a:pPr>
            <a:r>
              <a:t>Deployable on Streamlit &amp; SQLite 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